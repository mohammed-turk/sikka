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Manrope"/>
      <p:regular r:id="rId201317"/>
    </p:embeddedFont>
    <p:embeddedFont>
      <p:font typeface="Manrop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SIKKA is a personalized visit planning assistant for Six Flags Qiddiya visits. Introduce the team and bootcamp.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relatable visitor situations, not measured research findings. Start with the uncertainty of choosing the next activity, then connect that uncertainty to suitability, time and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real route screenshot inside the dashed frame when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visitor's journey: the plan uses the visit date, duration, profile details and preferences to check ride eligibility and available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family's journey: ages, ride eligibility, companion requirements and meal breaks are considered in one coordinated itinerary, approved by the organizer.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group's journey: the organizer creates the visit, friends join and confirm, each member gives preferences, the supported group mode is chosen, and the organizer reviews and approves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Technologies used in the project: Java, Spring Boot, Spring Security, Spring Data JPA, Hibernate, MySQL, Jakarta Validation, Lombok and Maven.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62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061D52">
              <a:alpha val="6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842943" y="355600"/>
            <a:ext cx="6505710" cy="3378895"/>
          </a:xfrm>
          <a:prstGeom prst="rect">
            <a:avLst/>
          </a:prstGeom>
          <a:solidFill>
            <a:srgbClr val="061D52">
              <a:alpha val="4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35" y="1160562"/>
            <a:ext cx="2653241" cy="176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0977" y="1671435"/>
            <a:ext cx="589543" cy="771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×</a:t>
            </a:r>
            <a:endParaRPr lang="en-US" sz="4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520" y="660400"/>
            <a:ext cx="2653341" cy="27692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55591" y="4689277"/>
            <a:ext cx="3521979" cy="750292"/>
          </a:xfrm>
          <a:prstGeom prst="roundRect">
            <a:avLst>
              <a:gd name="adj" fmla="val 20312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E1E6E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55591" y="4930323"/>
            <a:ext cx="352197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Nawaf Alghamdi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334759" y="4689277"/>
            <a:ext cx="3522078" cy="750292"/>
          </a:xfrm>
          <a:prstGeom prst="roundRect">
            <a:avLst>
              <a:gd name="adj" fmla="val 20312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E1E6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334759" y="4930323"/>
            <a:ext cx="35220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Abdulaziz Shafae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314026" y="4689277"/>
            <a:ext cx="3522078" cy="750292"/>
          </a:xfrm>
          <a:prstGeom prst="roundRect">
            <a:avLst>
              <a:gd name="adj" fmla="val 20312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E1E6E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314026" y="4930323"/>
            <a:ext cx="35220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Mohammed Aljubaili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0799" y="5712166"/>
            <a:ext cx="1209009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Java Web Development and AI Integration Bootcamp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799" y="6173375"/>
            <a:ext cx="1209009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Tuwaiq Academy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>
              <a:alpha val="9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09585" y="664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34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 Great Day Shouldn’t Be Hard to Plan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09585" y="1222970"/>
            <a:ext cx="10972526" cy="38100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6" name="Shape 3"/>
          <p:cNvSpPr/>
          <p:nvPr/>
        </p:nvSpPr>
        <p:spPr>
          <a:xfrm>
            <a:off x="609585" y="131028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B000"/>
          </a:solidFill>
          <a:ln/>
        </p:spPr>
      </p:sp>
      <p:sp>
        <p:nvSpPr>
          <p:cNvPr id="7" name="Shape 4"/>
          <p:cNvSpPr/>
          <p:nvPr/>
        </p:nvSpPr>
        <p:spPr>
          <a:xfrm>
            <a:off x="609585" y="2242542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2540992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8027" y="3102967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Is This Ride Suitable for Me?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08027" y="3702788"/>
            <a:ext cx="285742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Visitors struggle to match ride requirements with their age, height, weight, health conditions, and companion needs.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368691" y="2242542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133" y="2540992"/>
            <a:ext cx="40639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7133" y="3102967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How Do I Make the Most of My Time?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667133" y="3702788"/>
            <a:ext cx="285742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Choosing rides, accounting for queues and walking distances, and fitting in breaks makes planning difficult.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127797" y="2242542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39" y="2540992"/>
            <a:ext cx="40639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26239" y="3102967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How Do We Plan for Everyone?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426239" y="3702788"/>
            <a:ext cx="285742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Different interests and ride restrictions make it difficult for families and friends to coordinate their day.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62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F9FAFC">
              <a:alpha val="9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9585" y="664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34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SIKKA Turns Uncertainty into a Plan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09585" y="1222970"/>
            <a:ext cx="10972526" cy="38100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7" name="Shape 4"/>
          <p:cNvSpPr/>
          <p:nvPr/>
        </p:nvSpPr>
        <p:spPr>
          <a:xfrm>
            <a:off x="609585" y="131028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B000"/>
          </a:solidFill>
          <a:ln/>
        </p:spPr>
      </p:sp>
      <p:sp>
        <p:nvSpPr>
          <p:cNvPr id="8" name="Shape 5"/>
          <p:cNvSpPr/>
          <p:nvPr/>
        </p:nvSpPr>
        <p:spPr>
          <a:xfrm>
            <a:off x="609585" y="2194917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2493367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8027" y="3055342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Understand Ride Suitability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08027" y="3655163"/>
            <a:ext cx="285742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Compare visitor profiles with available ride requirements and highlight restrictions or information requiring further confirmation.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368691" y="2194917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133" y="2493367"/>
            <a:ext cx="40639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7133" y="3055342"/>
            <a:ext cx="2857429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Get a Personalized Plan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667133" y="3413863"/>
            <a:ext cx="285742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Generate a plan based on preferences, available time, estimated waiting and walking times, and breaks.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27797" y="2194917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39" y="2493367"/>
            <a:ext cx="40639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26239" y="3055342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Coordinate the Day Together or Solo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8426239" y="3655163"/>
            <a:ext cx="285742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Bring members’ preferences and needs into a coordinated plan that can be reviewed and adjusted.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76143" cy="6762750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6350">
            <a:solidFill>
              <a:srgbClr val="E1E6EF"/>
            </a:solidFill>
            <a:prstDash val="solid"/>
          </a:ln>
          <a:effectLst>
            <a:outerShdw sx="100000" sy="100000" kx="0" ky="0" algn="bl" rotWithShape="0" blurRad="227330" dist="74930" dir="5400000">
              <a:srgbClr val="061d52">
                <a:alpha val="1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15935" y="1970822"/>
            <a:ext cx="4396670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34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Explore Before You Plan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15935" y="2939752"/>
            <a:ext cx="4396670" cy="38100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6" name="Shape 4"/>
          <p:cNvSpPr/>
          <p:nvPr/>
        </p:nvSpPr>
        <p:spPr>
          <a:xfrm>
            <a:off x="615935" y="3027065"/>
            <a:ext cx="4396570" cy="31651"/>
          </a:xfrm>
          <a:prstGeom prst="roundRect">
            <a:avLst>
              <a:gd name="adj" fmla="val 49998"/>
            </a:avLst>
          </a:prstGeom>
          <a:solidFill>
            <a:srgbClr val="0B2E8B"/>
          </a:solidFill>
          <a:ln/>
        </p:spPr>
      </p:sp>
      <p:sp>
        <p:nvSpPr>
          <p:cNvPr id="7" name="Text 5"/>
          <p:cNvSpPr/>
          <p:nvPr/>
        </p:nvSpPr>
        <p:spPr>
          <a:xfrm>
            <a:off x="615935" y="3292177"/>
            <a:ext cx="4396670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Rides and attractions shown on the map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Facilities and points of interest across the park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Published ride requirements for each ride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Estimated walking routes between points.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3232" y="0"/>
            <a:ext cx="6258463" cy="6762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51250"/>
            <a:ext cx="7495392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34" kern="100" dirty="0">
                <a:solidFill>
                  <a:srgbClr val="0F103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From One Stop to the Next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516106"/>
            <a:ext cx="78001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Turn your next destination into a clear walking route.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19002"/>
            <a:ext cx="7495392" cy="39422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6859" y="0"/>
            <a:ext cx="3324836" cy="6858000"/>
          </a:xfrm>
          <a:prstGeom prst="roundRect">
            <a:avLst>
              <a:gd name="adj" fmla="val 8250"/>
            </a:avLst>
          </a:prstGeom>
          <a:solidFill>
            <a:srgbClr val="FFFFFF"/>
          </a:solidFill>
          <a:ln w="6350">
            <a:solidFill>
              <a:srgbClr val="E1E6EF"/>
            </a:solidFill>
            <a:prstDash val="solid"/>
          </a:ln>
          <a:effectLst>
            <a:outerShdw sx="100000" sy="100000" kx="0" ky="0" algn="bl" rotWithShape="0" blurRad="227330" dist="74930" dir="5400000">
              <a:srgbClr val="061d52">
                <a:alpha val="1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76403" y="418604"/>
            <a:ext cx="6955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B000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65520" y="456366"/>
            <a:ext cx="2413436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600" b="1" spc="-16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CHOOSE YOUR DESTINATION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65520" y="956247"/>
            <a:ext cx="2413436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Select a ride, restaurant, or facility.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76403" y="1898352"/>
            <a:ext cx="73618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B000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06198" y="1936115"/>
            <a:ext cx="2372757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600" b="1" spc="-16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SEE THE WALKING ROUTE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06198" y="2435995"/>
            <a:ext cx="237275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Follow a highlighted route along the mapped park walkways.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76403" y="3623370"/>
            <a:ext cx="7388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B000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08877" y="3661132"/>
            <a:ext cx="2370078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600" b="1" spc="-16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PLAN YOUR NEXT MOVE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08877" y="3968032"/>
            <a:ext cx="237007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View the estimated distance and walking time.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403" y="4642148"/>
            <a:ext cx="270255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62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F9FAFC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8786" y="463550"/>
            <a:ext cx="777220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000" b="1" spc="-30" kern="100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FLOW 01 — THE SOLO JOURNEY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58786" y="970800"/>
            <a:ext cx="838179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Your Day, Your Priorities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7987" y="2692400"/>
            <a:ext cx="11175720" cy="76200"/>
          </a:xfrm>
          <a:prstGeom prst="roundRect">
            <a:avLst>
              <a:gd name="adj" fmla="val 39999"/>
            </a:avLst>
          </a:prstGeom>
          <a:solidFill>
            <a:srgbClr val="0B2E8B"/>
          </a:solidFill>
          <a:ln/>
        </p:spPr>
      </p:sp>
      <p:sp>
        <p:nvSpPr>
          <p:cNvPr id="9" name="Shape 6"/>
          <p:cNvSpPr/>
          <p:nvPr/>
        </p:nvSpPr>
        <p:spPr>
          <a:xfrm>
            <a:off x="507987" y="4851400"/>
            <a:ext cx="11175720" cy="76200"/>
          </a:xfrm>
          <a:prstGeom prst="roundRect">
            <a:avLst>
              <a:gd name="adj" fmla="val 39999"/>
            </a:avLst>
          </a:prstGeom>
          <a:solidFill>
            <a:srgbClr val="0B2E8B"/>
          </a:solidFill>
          <a:ln/>
        </p:spPr>
      </p:sp>
      <p:sp>
        <p:nvSpPr>
          <p:cNvPr id="10" name="Shape 7"/>
          <p:cNvSpPr/>
          <p:nvPr/>
        </p:nvSpPr>
        <p:spPr>
          <a:xfrm>
            <a:off x="9931152" y="3556000"/>
            <a:ext cx="76198" cy="889000"/>
          </a:xfrm>
          <a:prstGeom prst="roundRect">
            <a:avLst>
              <a:gd name="adj" fmla="val 40000"/>
            </a:avLst>
          </a:prstGeom>
          <a:solidFill>
            <a:srgbClr val="0B2E8B"/>
          </a:solidFill>
          <a:ln/>
        </p:spPr>
      </p:sp>
      <p:sp>
        <p:nvSpPr>
          <p:cNvPr id="11" name="Shape 8"/>
          <p:cNvSpPr/>
          <p:nvPr/>
        </p:nvSpPr>
        <p:spPr>
          <a:xfrm>
            <a:off x="3975001" y="2552700"/>
            <a:ext cx="380990" cy="355600"/>
          </a:xfrm>
          <a:prstGeom prst="ellipse">
            <a:avLst/>
          </a:prstGeom>
          <a:solidFill>
            <a:srgbClr val="FFC928"/>
          </a:solidFill>
          <a:ln/>
        </p:spPr>
      </p:sp>
      <p:sp>
        <p:nvSpPr>
          <p:cNvPr id="12" name="Text 9"/>
          <p:cNvSpPr/>
          <p:nvPr/>
        </p:nvSpPr>
        <p:spPr>
          <a:xfrm>
            <a:off x="3721007" y="2596400"/>
            <a:ext cx="8889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35704" y="2552700"/>
            <a:ext cx="380990" cy="355600"/>
          </a:xfrm>
          <a:prstGeom prst="ellipse">
            <a:avLst/>
          </a:prstGeom>
          <a:solidFill>
            <a:srgbClr val="FFC928"/>
          </a:solidFill>
          <a:ln/>
        </p:spPr>
      </p:sp>
      <p:sp>
        <p:nvSpPr>
          <p:cNvPr id="14" name="Text 11"/>
          <p:cNvSpPr/>
          <p:nvPr/>
        </p:nvSpPr>
        <p:spPr>
          <a:xfrm>
            <a:off x="7581710" y="2596400"/>
            <a:ext cx="8889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➜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835704" y="4711700"/>
            <a:ext cx="380990" cy="355600"/>
          </a:xfrm>
          <a:prstGeom prst="ellipse">
            <a:avLst/>
          </a:prstGeom>
          <a:solidFill>
            <a:srgbClr val="FFC928"/>
          </a:solidFill>
          <a:ln/>
        </p:spPr>
      </p:sp>
      <p:sp>
        <p:nvSpPr>
          <p:cNvPr id="16" name="Text 13"/>
          <p:cNvSpPr/>
          <p:nvPr/>
        </p:nvSpPr>
        <p:spPr>
          <a:xfrm>
            <a:off x="7581710" y="4755400"/>
            <a:ext cx="8889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⬅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17812" y="4711700"/>
            <a:ext cx="380990" cy="355600"/>
          </a:xfrm>
          <a:prstGeom prst="ellipse">
            <a:avLst/>
          </a:prstGeom>
          <a:solidFill>
            <a:srgbClr val="FFC928"/>
          </a:solidFill>
          <a:ln/>
        </p:spPr>
      </p:sp>
      <p:sp>
        <p:nvSpPr>
          <p:cNvPr id="18" name="Text 15"/>
          <p:cNvSpPr/>
          <p:nvPr/>
        </p:nvSpPr>
        <p:spPr>
          <a:xfrm>
            <a:off x="3263818" y="4755400"/>
            <a:ext cx="8889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⬅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7987" y="1422400"/>
            <a:ext cx="1650959" cy="3810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 w="12700">
            <a:solidFill>
              <a:srgbClr val="0B2E8B"/>
            </a:solidFill>
            <a:prstDash val="solid"/>
          </a:ln>
          <a:effectLst>
            <a:outerShdw sx="100000" sy="100000" kx="0" ky="0" algn="bl" rotWithShape="0" blurRad="100330" dist="24130" dir="5400000">
              <a:srgbClr val="061d5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66693" y="1490837"/>
            <a:ext cx="213354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Entrance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7987" y="1905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1486" y="2322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Set your visit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71486" y="2650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Choose the date and available duration.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381390" y="1905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444889" y="2322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Share your preferences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444889" y="2650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Complete your profile and select your preferred rides.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254793" y="1905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318292" y="2322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Generate your itinerary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318292" y="2650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Receive a plan considering your interests, eligibility, and time.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254793" y="4064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318292" y="4481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Review and approve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318292" y="4809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Request adjustments or approve the proposed plan.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381390" y="4064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444889" y="4481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Start exploring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444889" y="4809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Follow your activities and walking routes.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380990" y="1778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52396" y="1876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4254394" y="1778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25799" y="1876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8127797" y="1778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99202" y="1876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127797" y="3937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99202" y="4035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4254394" y="3937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025799" y="4035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507987" y="4597400"/>
            <a:ext cx="2539936" cy="5842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</p:sp>
      <p:sp>
        <p:nvSpPr>
          <p:cNvPr id="47" name="Text 44"/>
          <p:cNvSpPr/>
          <p:nvPr/>
        </p:nvSpPr>
        <p:spPr>
          <a:xfrm>
            <a:off x="253994" y="4755400"/>
            <a:ext cx="304792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Ready to Enjoy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07987" y="6248400"/>
            <a:ext cx="11175720" cy="3810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266693" y="6329950"/>
            <a:ext cx="1165830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Individual interests, ride eligibility and available time shape one clear plan.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7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1524000"/>
            <a:ext cx="12191695" cy="5334000"/>
          </a:xfrm>
          <a:prstGeom prst="roundRect">
            <a:avLst>
              <a:gd name="adj" fmla="val 571"/>
            </a:avLst>
          </a:prstGeom>
          <a:solidFill>
            <a:srgbClr val="F9FAFC">
              <a:alpha val="9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58786" y="535325"/>
            <a:ext cx="11074123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34" kern="100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FLOW 02 — THE FAMILY JOURNEY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58786" y="1210131"/>
            <a:ext cx="8788180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b="1" spc="-21" kern="100" dirty="0">
                <a:solidFill>
                  <a:srgbClr val="1324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A Day That Considers Everyone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295368" y="2438400"/>
            <a:ext cx="9804155" cy="762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</p:sp>
      <p:sp>
        <p:nvSpPr>
          <p:cNvPr id="8" name="Shape 5"/>
          <p:cNvSpPr/>
          <p:nvPr/>
        </p:nvSpPr>
        <p:spPr>
          <a:xfrm>
            <a:off x="9677158" y="2514600"/>
            <a:ext cx="76198" cy="76200"/>
          </a:xfrm>
          <a:prstGeom prst="roundRect">
            <a:avLst>
              <a:gd name="adj" fmla="val 40000"/>
            </a:avLst>
          </a:prstGeom>
          <a:solidFill>
            <a:srgbClr val="0B2E8B"/>
          </a:solidFill>
          <a:ln/>
        </p:spPr>
      </p:sp>
      <p:sp>
        <p:nvSpPr>
          <p:cNvPr id="9" name="Shape 6"/>
          <p:cNvSpPr/>
          <p:nvPr/>
        </p:nvSpPr>
        <p:spPr>
          <a:xfrm>
            <a:off x="9677158" y="3429000"/>
            <a:ext cx="76198" cy="762000"/>
          </a:xfrm>
          <a:prstGeom prst="roundRect">
            <a:avLst>
              <a:gd name="adj" fmla="val 40000"/>
            </a:avLst>
          </a:prstGeom>
          <a:solidFill>
            <a:srgbClr val="0B2E8B"/>
          </a:solidFill>
          <a:ln/>
        </p:spPr>
      </p:sp>
      <p:sp>
        <p:nvSpPr>
          <p:cNvPr id="10" name="Shape 7"/>
          <p:cNvSpPr/>
          <p:nvPr/>
        </p:nvSpPr>
        <p:spPr>
          <a:xfrm>
            <a:off x="1396965" y="5105400"/>
            <a:ext cx="9778755" cy="762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</p:sp>
      <p:sp>
        <p:nvSpPr>
          <p:cNvPr id="11" name="Text 8"/>
          <p:cNvSpPr/>
          <p:nvPr/>
        </p:nvSpPr>
        <p:spPr>
          <a:xfrm>
            <a:off x="4190895" y="2342400"/>
            <a:ext cx="7619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▶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19809" y="2342400"/>
            <a:ext cx="7619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▶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00400" y="4971300"/>
            <a:ext cx="7619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19809" y="4971300"/>
            <a:ext cx="7619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◀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28594" y="2222500"/>
            <a:ext cx="1066773" cy="508000"/>
          </a:xfrm>
          <a:prstGeom prst="roundRect">
            <a:avLst>
              <a:gd name="adj" fmla="val 41999"/>
            </a:avLst>
          </a:prstGeom>
          <a:solidFill>
            <a:srgbClr val="0B2E8B"/>
          </a:solidFill>
          <a:ln/>
        </p:spPr>
      </p:sp>
      <p:sp>
        <p:nvSpPr>
          <p:cNvPr id="16" name="Text 13"/>
          <p:cNvSpPr/>
          <p:nvPr/>
        </p:nvSpPr>
        <p:spPr>
          <a:xfrm>
            <a:off x="0" y="2342400"/>
            <a:ext cx="157476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Entrance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396965" y="4889500"/>
            <a:ext cx="2539936" cy="508000"/>
          </a:xfrm>
          <a:prstGeom prst="roundRect">
            <a:avLst>
              <a:gd name="adj" fmla="val 41999"/>
            </a:avLst>
          </a:prstGeom>
          <a:solidFill>
            <a:srgbClr val="0B2E8B"/>
          </a:solidFill>
          <a:ln/>
        </p:spPr>
      </p:sp>
      <p:sp>
        <p:nvSpPr>
          <p:cNvPr id="18" name="Text 15"/>
          <p:cNvSpPr/>
          <p:nvPr/>
        </p:nvSpPr>
        <p:spPr>
          <a:xfrm>
            <a:off x="1142971" y="5009400"/>
            <a:ext cx="304792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Ready to Enjoy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96965" y="1524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625559" y="2085856"/>
            <a:ext cx="246373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Create a family visit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25559" y="2413373"/>
            <a:ext cx="246373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Set the date and available time.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244569" y="1371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5975" y="1466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825879" y="1524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054474" y="2085856"/>
            <a:ext cx="246373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Add family members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054474" y="2413373"/>
            <a:ext cx="246373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Provide their ages and relevant eligibility details.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673483" y="1371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44889" y="1466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54793" y="1524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483388" y="1977311"/>
            <a:ext cx="246373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Set preferences and breaks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483388" y="2521918"/>
            <a:ext cx="246373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Choose activities and meal preferences.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02397" y="1371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73803" y="1466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254793" y="4191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483388" y="4630222"/>
            <a:ext cx="246373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Generate the itinerary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483388" y="4957739"/>
            <a:ext cx="2463738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Consider ride suitability, companion requirements, and shared activities.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102397" y="4038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73803" y="4133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825879" y="4191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5054474" y="4630222"/>
            <a:ext cx="246373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800" b="1" spc="-18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Review and approve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5054474" y="4957739"/>
            <a:ext cx="2463738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organizer checks the plan and requests changes if needed.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673483" y="4038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44889" y="4133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2336742" y="6452600"/>
            <a:ext cx="8127797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Different ages, ride eligibility, companion requirements and meal breaks fit one day.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8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44"/>
            </a:avLst>
          </a:prstGeom>
          <a:solidFill>
            <a:srgbClr val="F9FAFC">
              <a:alpha val="9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60383" y="327025"/>
            <a:ext cx="878818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000" b="1" spc="-30" kern="100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FLOW 03 — THE FRIENDS JOURNEY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60383" y="891096"/>
            <a:ext cx="9397765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Different Interests, A Shared Experience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650959" y="2514600"/>
            <a:ext cx="9778755" cy="508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</p:sp>
      <p:sp>
        <p:nvSpPr>
          <p:cNvPr id="8" name="Shape 5"/>
          <p:cNvSpPr/>
          <p:nvPr/>
        </p:nvSpPr>
        <p:spPr>
          <a:xfrm>
            <a:off x="11404315" y="2514600"/>
            <a:ext cx="50799" cy="2362200"/>
          </a:xfrm>
          <a:prstGeom prst="roundRect">
            <a:avLst>
              <a:gd name="adj" fmla="val 50000"/>
            </a:avLst>
          </a:prstGeom>
          <a:solidFill>
            <a:srgbClr val="0B2E8B"/>
          </a:solidFill>
          <a:ln/>
        </p:spPr>
      </p:sp>
      <p:sp>
        <p:nvSpPr>
          <p:cNvPr id="9" name="Shape 6"/>
          <p:cNvSpPr/>
          <p:nvPr/>
        </p:nvSpPr>
        <p:spPr>
          <a:xfrm>
            <a:off x="1650959" y="4800600"/>
            <a:ext cx="9778755" cy="508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</p:sp>
      <p:sp>
        <p:nvSpPr>
          <p:cNvPr id="10" name="Shape 7"/>
          <p:cNvSpPr/>
          <p:nvPr/>
        </p:nvSpPr>
        <p:spPr>
          <a:xfrm>
            <a:off x="253994" y="2311400"/>
            <a:ext cx="1777956" cy="356592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2355596"/>
            <a:ext cx="231134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Entrance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3994" y="4597400"/>
            <a:ext cx="1777956" cy="356592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</p:sp>
      <p:sp>
        <p:nvSpPr>
          <p:cNvPr id="13" name="Text 10"/>
          <p:cNvSpPr/>
          <p:nvPr/>
        </p:nvSpPr>
        <p:spPr>
          <a:xfrm>
            <a:off x="0" y="4641596"/>
            <a:ext cx="231134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Ready to Enjoy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38579" y="2362200"/>
            <a:ext cx="355591" cy="296069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9985" y="2388172"/>
            <a:ext cx="8127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➜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886503" y="2362200"/>
            <a:ext cx="355591" cy="296069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57908" y="2388172"/>
            <a:ext cx="8127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➜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886503" y="4648200"/>
            <a:ext cx="355591" cy="296069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57908" y="4674172"/>
            <a:ext cx="8127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←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38579" y="4648200"/>
            <a:ext cx="355591" cy="296069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9985" y="4674172"/>
            <a:ext cx="8127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←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158946" y="1587500"/>
            <a:ext cx="2666933" cy="1281906"/>
          </a:xfrm>
          <a:prstGeom prst="roundRect">
            <a:avLst>
              <a:gd name="adj" fmla="val 1664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374841" y="1811179"/>
            <a:ext cx="223514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900" b="1" spc="-19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Create and invite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374841" y="2154198"/>
            <a:ext cx="22351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Set up the visit and share the group code.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031949" y="1460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790655" y="1526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206870" y="1587500"/>
            <a:ext cx="2666933" cy="1281906"/>
          </a:xfrm>
          <a:prstGeom prst="roundRect">
            <a:avLst>
              <a:gd name="adj" fmla="val 1664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22764" y="1811179"/>
            <a:ext cx="223514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900" b="1" spc="-19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Join and confirm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5422764" y="2154198"/>
            <a:ext cx="22351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Friends join and respond to attendance.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079873" y="1460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38579" y="1526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254793" y="1587500"/>
            <a:ext cx="2666933" cy="1544737"/>
          </a:xfrm>
          <a:prstGeom prst="roundRect">
            <a:avLst>
              <a:gd name="adj" fmla="val 1381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470688" y="1811179"/>
            <a:ext cx="223514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900" b="1" spc="-19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Share preferences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8470688" y="2154198"/>
            <a:ext cx="223514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Each member provides their interests and relevant profile details.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127797" y="1460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86503" y="1526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8254793" y="3873500"/>
            <a:ext cx="2666933" cy="1773932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8470688" y="4097179"/>
            <a:ext cx="223514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900" b="1" spc="-19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Choose a group mode</a:t>
            </a:r>
            <a:endParaRPr lang="en-US" sz="1900" dirty="0"/>
          </a:p>
        </p:txBody>
      </p:sp>
      <p:sp>
        <p:nvSpPr>
          <p:cNvPr id="39" name="Text 36"/>
          <p:cNvSpPr/>
          <p:nvPr/>
        </p:nvSpPr>
        <p:spPr>
          <a:xfrm>
            <a:off x="8470688" y="4669393"/>
            <a:ext cx="223514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Decide how the group wants to experience the park.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127797" y="3746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6503" y="3812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5206870" y="3873500"/>
            <a:ext cx="2666933" cy="1773932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5422764" y="4097179"/>
            <a:ext cx="223514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900" b="1" spc="-19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Generate the itinerary</a:t>
            </a:r>
            <a:endParaRPr lang="en-US" sz="1900" dirty="0"/>
          </a:p>
        </p:txBody>
      </p:sp>
      <p:sp>
        <p:nvSpPr>
          <p:cNvPr id="44" name="Text 41"/>
          <p:cNvSpPr/>
          <p:nvPr/>
        </p:nvSpPr>
        <p:spPr>
          <a:xfrm>
            <a:off x="5422764" y="4669393"/>
            <a:ext cx="223514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Build a plan considering members’ preferences and eligibility.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079873" y="3746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38579" y="3812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2158946" y="3873500"/>
            <a:ext cx="2666933" cy="1773932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061d52">
                <a:alpha val="10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2374841" y="4097179"/>
            <a:ext cx="223514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900" b="1" spc="-19" kern="100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Review and approve</a:t>
            </a:r>
            <a:endParaRPr lang="en-US" sz="1900" dirty="0"/>
          </a:p>
        </p:txBody>
      </p:sp>
      <p:sp>
        <p:nvSpPr>
          <p:cNvPr id="49" name="Text 46"/>
          <p:cNvSpPr/>
          <p:nvPr/>
        </p:nvSpPr>
        <p:spPr>
          <a:xfrm>
            <a:off x="2374841" y="4669393"/>
            <a:ext cx="223514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organizer reviews the proposal before the visit begins.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2031949" y="3746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790655" y="3812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6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660383" y="6223572"/>
            <a:ext cx="1015974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Coordination and balanced preferences give every friend a place in one shared plan.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62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58786" y="466154"/>
            <a:ext cx="1163290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10" kern="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DURING THE VISIT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8786" y="797619"/>
            <a:ext cx="110741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b="1" spc="-40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From Plans to Experiences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58786" y="1418332"/>
            <a:ext cx="5384665" cy="1944092"/>
          </a:xfrm>
          <a:prstGeom prst="roundRect">
            <a:avLst>
              <a:gd name="adj" fmla="val 1411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76530" dist="49530" dir="54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79" y="1710432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879" y="2437507"/>
            <a:ext cx="48004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NEXT ACTIVITY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50879" y="2796028"/>
            <a:ext cx="509257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See what’s coming next in your itinerary.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48244" y="1418332"/>
            <a:ext cx="5384665" cy="1944092"/>
          </a:xfrm>
          <a:prstGeom prst="roundRect">
            <a:avLst>
              <a:gd name="adj" fmla="val 1411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76530" dist="4953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336" y="1710432"/>
            <a:ext cx="507987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40336" y="2437507"/>
            <a:ext cx="48004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WALKING ROUTES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540336" y="2796028"/>
            <a:ext cx="509257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Follow estimated routes between park locations.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58786" y="3667224"/>
            <a:ext cx="5384665" cy="2224484"/>
          </a:xfrm>
          <a:prstGeom prst="roundRect">
            <a:avLst>
              <a:gd name="adj" fmla="val 1233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76530" dist="4953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79" y="3959324"/>
            <a:ext cx="507987" cy="508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879" y="4686399"/>
            <a:ext cx="48004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PROGRESS &amp; REMINDERS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50879" y="5044920"/>
            <a:ext cx="480048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Track activities and receive reminders for upcoming activities and meal stops.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248244" y="3667224"/>
            <a:ext cx="5384665" cy="2224484"/>
          </a:xfrm>
          <a:prstGeom prst="roundRect">
            <a:avLst>
              <a:gd name="adj" fmla="val 1233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76530" dist="4953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336" y="3959324"/>
            <a:ext cx="507987" cy="5080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40336" y="4686399"/>
            <a:ext cx="48004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000" b="1" spc="-20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PLAN ADJUSTMENTS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6540336" y="5044920"/>
            <a:ext cx="480048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Review and approve proposed changes before they apply.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58786" y="466154"/>
            <a:ext cx="1163290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110" kern="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AFTER THE VISIT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58786" y="797619"/>
            <a:ext cx="110741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b="1" spc="-40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 Great Day, Worth Sharing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58786" y="2267645"/>
            <a:ext cx="5384665" cy="3080643"/>
          </a:xfrm>
          <a:prstGeom prst="roundRect">
            <a:avLst>
              <a:gd name="adj" fmla="val 890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76530" dist="4953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27077" y="2635945"/>
            <a:ext cx="1117572" cy="11176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2" y="2839145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7077" y="3976112"/>
            <a:ext cx="4648084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b="1" spc="-22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COMPLETE YOUR VISIT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27077" y="4351250"/>
            <a:ext cx="4648084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Finish your day and view a summary of your visit.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248244" y="2267645"/>
            <a:ext cx="5384665" cy="3080643"/>
          </a:xfrm>
          <a:prstGeom prst="roundRect">
            <a:avLst>
              <a:gd name="adj" fmla="val 890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76530" dist="4953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16534" y="2635945"/>
            <a:ext cx="1117572" cy="11176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729" y="2839145"/>
            <a:ext cx="507987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16534" y="3976112"/>
            <a:ext cx="4648084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b="1" spc="-22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RATE YOUR EXPERIENCE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616534" y="4351250"/>
            <a:ext cx="4648084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Give your visit a rating and share your feedback.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762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F9FAFC"/>
          </a:solidFill>
          <a:ln/>
        </p:spPr>
      </p:sp>
      <p:sp>
        <p:nvSpPr>
          <p:cNvPr id="6" name="Text 3"/>
          <p:cNvSpPr/>
          <p:nvPr/>
        </p:nvSpPr>
        <p:spPr>
          <a:xfrm>
            <a:off x="609585" y="664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34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The Technology Behind SIKKA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09585" y="1222970"/>
            <a:ext cx="10972526" cy="38100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8" name="Shape 5"/>
          <p:cNvSpPr/>
          <p:nvPr/>
        </p:nvSpPr>
        <p:spPr>
          <a:xfrm>
            <a:off x="609585" y="131028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C928"/>
          </a:solidFill>
          <a:ln/>
        </p:spPr>
      </p:sp>
      <p:sp>
        <p:nvSpPr>
          <p:cNvPr id="9" name="Shape 6"/>
          <p:cNvSpPr/>
          <p:nvPr/>
        </p:nvSpPr>
        <p:spPr>
          <a:xfrm>
            <a:off x="609585" y="2675830"/>
            <a:ext cx="1828754" cy="191244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13244a">
                <a:alpha val="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79" y="2891730"/>
            <a:ext cx="1396965" cy="148064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95428" y="2675830"/>
            <a:ext cx="1828853" cy="1912441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13244a">
                <a:alpha val="1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323" y="2891730"/>
            <a:ext cx="1397064" cy="148064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81371" y="2675830"/>
            <a:ext cx="1828853" cy="1912441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13244a">
                <a:alpha val="1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266" y="2891730"/>
            <a:ext cx="1397064" cy="1480641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467314" y="2675830"/>
            <a:ext cx="1828853" cy="1912441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13244a">
                <a:alpha val="1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209" y="2891730"/>
            <a:ext cx="1397064" cy="1480641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9753257" y="2675830"/>
            <a:ext cx="1828853" cy="1912441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51130" dist="49530" dir="5400000">
              <a:srgbClr val="13244a">
                <a:alpha val="1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9151" y="2891730"/>
            <a:ext cx="1397064" cy="148064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4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00" b="1" spc="-34" kern="100" dirty="0">
                <a:solidFill>
                  <a:srgbClr val="0F103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Connected Services Behind SIKKA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203920"/>
            <a:ext cx="2514537" cy="3064272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25730" dist="24130" dir="5400000">
              <a:srgbClr val="13244a">
                <a:alpha val="1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1445220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879" y="2013704"/>
            <a:ext cx="203194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b="1" spc="-21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OpenAI API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50879" y="2377722"/>
            <a:ext cx="203194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Generates individual and group itineraries and supports AI replanning.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8914" y="1203920"/>
            <a:ext cx="2514537" cy="3064272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25730" dist="24130" dir="5400000">
              <a:srgbClr val="13244a">
                <a:alpha val="1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208" y="1445220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0208" y="2013704"/>
            <a:ext cx="203194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b="1" spc="-21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Aladhan API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670208" y="2377722"/>
            <a:ext cx="2031949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Provides prayer times for inclusion in visit schedules.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48244" y="1203920"/>
            <a:ext cx="2514537" cy="3064272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25730" dist="24130" dir="5400000">
              <a:srgbClr val="13244a">
                <a:alpha val="1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538" y="1445220"/>
            <a:ext cx="40639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89538" y="2013704"/>
            <a:ext cx="203194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b="1" spc="-21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Google Calendar API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6489538" y="2631027"/>
            <a:ext cx="203194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Connects Google accounts and syncs, updates, or removes approved itinerary events.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9067573" y="1203920"/>
            <a:ext cx="2514537" cy="3064272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25730" dist="24130" dir="5400000">
              <a:srgbClr val="13244a">
                <a:alpha val="1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867" y="1445220"/>
            <a:ext cx="40639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08867" y="2013704"/>
            <a:ext cx="203194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b="1" spc="-21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Gmail SMTP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9308867" y="2377722"/>
            <a:ext cx="203194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Sends email verification, password recovery, and account messages.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09585" y="4452342"/>
            <a:ext cx="3454314" cy="2328664"/>
          </a:xfrm>
          <a:prstGeom prst="roundRect">
            <a:avLst>
              <a:gd name="adj" fmla="val 1047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25730" dist="24130" dir="5400000">
              <a:srgbClr val="13244a">
                <a:alpha val="1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79" y="4693642"/>
            <a:ext cx="406390" cy="406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0879" y="5262126"/>
            <a:ext cx="2971726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b="1" spc="-21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UltraMsg WhatsApp API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850879" y="5879449"/>
            <a:ext cx="29717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Supports phone verification and WhatsApp messaging.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368691" y="4452342"/>
            <a:ext cx="3454314" cy="2328664"/>
          </a:xfrm>
          <a:prstGeom prst="roundRect">
            <a:avLst>
              <a:gd name="adj" fmla="val 1047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25730" dist="24130" dir="5400000">
              <a:srgbClr val="13244a">
                <a:alpha val="1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985" y="4693642"/>
            <a:ext cx="406390" cy="406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609985" y="5262126"/>
            <a:ext cx="2971726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b="1" spc="-21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Moyasar API</a:t>
            </a:r>
            <a:endParaRPr lang="en-US" sz="2100" dirty="0"/>
          </a:p>
        </p:txBody>
      </p:sp>
      <p:sp>
        <p:nvSpPr>
          <p:cNvPr id="26" name="Text 18"/>
          <p:cNvSpPr/>
          <p:nvPr/>
        </p:nvSpPr>
        <p:spPr>
          <a:xfrm>
            <a:off x="4609985" y="5626144"/>
            <a:ext cx="29717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Verifies payments and checks transaction status.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8127797" y="4452342"/>
            <a:ext cx="3454314" cy="2328664"/>
          </a:xfrm>
          <a:prstGeom prst="roundRect">
            <a:avLst>
              <a:gd name="adj" fmla="val 1047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25730" dist="24130" dir="5400000">
              <a:srgbClr val="13244a">
                <a:alpha val="1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305" y="4693642"/>
            <a:ext cx="1523962" cy="48488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369091" y="5340608"/>
            <a:ext cx="2971726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100" b="1" spc="-21" kern="10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n8n Webhook</a:t>
            </a:r>
            <a:endParaRPr lang="en-US" sz="2100" dirty="0"/>
          </a:p>
        </p:txBody>
      </p:sp>
      <p:sp>
        <p:nvSpPr>
          <p:cNvPr id="30" name="Text 21"/>
          <p:cNvSpPr/>
          <p:nvPr/>
        </p:nvSpPr>
        <p:spPr>
          <a:xfrm>
            <a:off x="8369091" y="5704626"/>
            <a:ext cx="297172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Automates notifications by forwarding system events to messaging services.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52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42943" y="307777"/>
            <a:ext cx="6505710" cy="3378895"/>
          </a:xfrm>
          <a:prstGeom prst="rect">
            <a:avLst/>
          </a:prstGeom>
          <a:solidFill>
            <a:srgbClr val="061D52">
              <a:alpha val="4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35" y="1112738"/>
            <a:ext cx="2653241" cy="17688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00977" y="1623612"/>
            <a:ext cx="589543" cy="771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×</a:t>
            </a:r>
            <a:endParaRPr lang="en-US" sz="4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520" y="612577"/>
            <a:ext cx="2653341" cy="27692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5591" y="3901936"/>
            <a:ext cx="11480513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5600" b="1" spc="-56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Thank you</a:t>
            </a:r>
            <a:endParaRPr lang="en-US" sz="5600" dirty="0"/>
          </a:p>
        </p:txBody>
      </p:sp>
      <p:sp>
        <p:nvSpPr>
          <p:cNvPr id="9" name="Shape 4"/>
          <p:cNvSpPr/>
          <p:nvPr/>
        </p:nvSpPr>
        <p:spPr>
          <a:xfrm>
            <a:off x="4660783" y="4743252"/>
            <a:ext cx="2870029" cy="38100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/>
        </p:spPr>
      </p:sp>
      <p:sp>
        <p:nvSpPr>
          <p:cNvPr id="10" name="Shape 5"/>
          <p:cNvSpPr/>
          <p:nvPr/>
        </p:nvSpPr>
        <p:spPr>
          <a:xfrm>
            <a:off x="355591" y="4959152"/>
            <a:ext cx="3623577" cy="762992"/>
          </a:xfrm>
          <a:prstGeom prst="roundRect">
            <a:avLst>
              <a:gd name="adj" fmla="val 2396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55591" y="5206548"/>
            <a:ext cx="36235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Nawaf Alghamdi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283960" y="4959152"/>
            <a:ext cx="3623676" cy="762992"/>
          </a:xfrm>
          <a:prstGeom prst="roundRect">
            <a:avLst>
              <a:gd name="adj" fmla="val 2396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283960" y="5206548"/>
            <a:ext cx="362367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Abdulaziz Shafae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212428" y="4959152"/>
            <a:ext cx="3623676" cy="762992"/>
          </a:xfrm>
          <a:prstGeom prst="roundRect">
            <a:avLst>
              <a:gd name="adj" fmla="val 2396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12428" y="5206548"/>
            <a:ext cx="362367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Mohammed Aljubaili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799" y="5855240"/>
            <a:ext cx="1209009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Java Web Development and AI Integration Bootcamp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0799" y="6316448"/>
            <a:ext cx="1209009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Tuwaiq Academy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2026-10-28T01:16:30Z</dcterms:created>
  <dcterms:modified xsi:type="dcterms:W3CDTF">2026-10-28T01:16:30Z</dcterms:modified>
</cp:coreProperties>
</file>